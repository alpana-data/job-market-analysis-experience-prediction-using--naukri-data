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3"/>
  </p:notesMasterIdLst>
  <p:sldIdLst>
    <p:sldId id="256" r:id="rId2"/>
    <p:sldId id="258" r:id="rId3"/>
    <p:sldId id="263" r:id="rId4"/>
    <p:sldId id="264" r:id="rId5"/>
    <p:sldId id="265" r:id="rId6"/>
    <p:sldId id="266" r:id="rId7"/>
    <p:sldId id="260" r:id="rId8"/>
    <p:sldId id="261" r:id="rId9"/>
    <p:sldId id="262" r:id="rId10"/>
    <p:sldId id="267" r:id="rId11"/>
    <p:sldId id="268" r:id="rId12"/>
    <p:sldId id="269" r:id="rId13"/>
    <p:sldId id="272" r:id="rId14"/>
    <p:sldId id="271" r:id="rId15"/>
    <p:sldId id="270" r:id="rId16"/>
    <p:sldId id="273" r:id="rId17"/>
    <p:sldId id="276" r:id="rId18"/>
    <p:sldId id="278" r:id="rId19"/>
    <p:sldId id="277" r:id="rId20"/>
    <p:sldId id="274" r:id="rId21"/>
    <p:sldId id="275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196" autoAdjust="0"/>
  </p:normalViewPr>
  <p:slideViewPr>
    <p:cSldViewPr snapToGrid="0">
      <p:cViewPr varScale="1">
        <p:scale>
          <a:sx n="81" d="100"/>
          <a:sy n="81" d="100"/>
        </p:scale>
        <p:origin x="75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8A371C-3714-4C6D-9878-C99EEC4F8B56}" type="datetimeFigureOut">
              <a:rPr lang="en-IN" smtClean="0"/>
              <a:t>24-04-2026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598ADD-1A82-48E5-A087-85B2ECF81D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00043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0A0BAB0F-9701-439D-823F-0A7B10740B56}" type="datetime1">
              <a:rPr lang="en-US" smtClean="0"/>
              <a:t>4/24/2026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A2032-6D8A-40E4-BEE3-108B3EBE39B6}" type="datetime1">
              <a:rPr lang="en-US" smtClean="0"/>
              <a:t>4/24/2026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5EA54-BD1A-4C64-9D83-C7DA4BB6D806}" type="datetime1">
              <a:rPr lang="en-US" smtClean="0"/>
              <a:t>4/24/2026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95DA8-D451-4690-811E-19E28051748F}" type="datetime1">
              <a:rPr lang="en-US" smtClean="0"/>
              <a:t>4/24/2026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DAEF1-A261-418F-8458-94F973F83922}" type="datetime1">
              <a:rPr lang="en-US" smtClean="0"/>
              <a:t>4/24/2026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14B2B-A3F8-45AF-8ED9-470B10C20D60}" type="datetime1">
              <a:rPr lang="en-US" smtClean="0"/>
              <a:t>4/24/2026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729FB-DFDA-4FBE-A851-247D624C08A3}" type="datetime1">
              <a:rPr lang="en-US" smtClean="0"/>
              <a:t>4/24/2026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94D45-E351-4091-B7B0-F590F8E2B55C}" type="datetime1">
              <a:rPr lang="en-US" smtClean="0"/>
              <a:t>4/24/2026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F5F79-6C6C-4B9F-8A9F-BEE49E7B1981}" type="datetime1">
              <a:rPr lang="en-US" smtClean="0"/>
              <a:t>4/24/2026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07BB4-E9EA-4AA6-9374-5DC6C48B2EAB}" type="datetime1">
              <a:rPr lang="en-US" smtClean="0"/>
              <a:t>4/24/2026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45932-39A8-4BBA-A8FF-DBEF0C8D0EAE}" type="datetime1">
              <a:rPr lang="en-US" smtClean="0"/>
              <a:t>4/24/2026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A1939-40A9-4BB3-AB6E-06766F7969CA}" type="datetime1">
              <a:rPr lang="en-US" smtClean="0"/>
              <a:t>4/24/2026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F295F-C86E-43EF-9F57-1D0A7B416C5D}" type="datetime1">
              <a:rPr lang="en-US" smtClean="0"/>
              <a:t>4/24/2026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7ED8A-52FB-4BAD-8F79-347572478647}" type="datetime1">
              <a:rPr lang="en-US" smtClean="0"/>
              <a:t>4/24/2026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5EEA5-0CE7-46EF-BFEE-27D0F0656B61}" type="datetime1">
              <a:rPr lang="en-US" smtClean="0"/>
              <a:t>4/24/2026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A235DDAB-C713-46C7-B707-05CD9C5EC216}" type="datetime1">
              <a:rPr lang="en-US" smtClean="0"/>
              <a:t>4/24/2026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F30D55E-D75A-4B3C-8AD6-C04BCE5EB8B7}" type="datetime1">
              <a:rPr lang="en-US" smtClean="0"/>
              <a:t>4/24/2026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6B330788-DC71-421E-ADEC-08ED56C61B32}" type="datetime1">
              <a:rPr lang="en-US" smtClean="0"/>
              <a:t>4/24/2026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72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721CB-CD46-60A6-12D9-4FF6AFC5268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i="1" dirty="0"/>
              <a:t>Job Market Analysis &amp; Experience Prediction using Naukri Data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4E0541-55E9-C787-9767-56234BB5F6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2980" y="5173306"/>
            <a:ext cx="8825658" cy="861420"/>
          </a:xfrm>
        </p:spPr>
        <p:txBody>
          <a:bodyPr/>
          <a:lstStyle/>
          <a:p>
            <a:r>
              <a:rPr lang="en-IN" dirty="0"/>
              <a:t>Alpana Prajapati</a:t>
            </a:r>
          </a:p>
          <a:p>
            <a:r>
              <a:rPr lang="en-IN" dirty="0"/>
              <a:t>Data Scientist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4FB62A-7B3C-0813-9ED8-B269F769D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73910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8BA2E3-528B-C7FB-99BB-861AE639F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A274DC-8EB8-C760-3556-CDF3924F5B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To </a:t>
            </a:r>
            <a:r>
              <a:rPr lang="en-IN" dirty="0" err="1"/>
              <a:t>Analyze</a:t>
            </a:r>
            <a:r>
              <a:rPr lang="en-IN" dirty="0"/>
              <a:t> job market trends to identify in-demand skills and predict experience levels required for the roles.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9A296A-302D-6986-740F-B552B386A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31141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29A779-C942-E9EE-7DD4-7817087D2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83A3C-6D0A-3F39-8BB4-68F665499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Project Overview &amp; Objective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774923-80C7-C261-9EC4-D53C109878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project analyzes data science job listings to uncover key skill requirements, hiring trends, and experience demands.</a:t>
            </a:r>
          </a:p>
          <a:p>
            <a:r>
              <a:rPr lang="en-US" dirty="0"/>
              <a:t>It combines web scraping, data preprocessing, EDA, Power BI dashboards, and a classification model to predict experience levels.</a:t>
            </a:r>
          </a:p>
          <a:p>
            <a:r>
              <a:rPr lang="en-US" dirty="0"/>
              <a:t>Tools Used: MS Excel | Power BI | Python | Machine Learning</a:t>
            </a:r>
          </a:p>
          <a:p>
            <a:pPr marL="0" indent="0">
              <a:buNone/>
            </a:pPr>
            <a:r>
              <a:rPr lang="en-IN" sz="2000" b="1" dirty="0"/>
              <a:t>Objective: </a:t>
            </a:r>
          </a:p>
          <a:p>
            <a:r>
              <a:rPr lang="en-US" sz="2000" dirty="0"/>
              <a:t>To understand hiring patterns, skill demand, and build a predictive model for experience level classification.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BAB219-F63D-63B4-E385-9161E0C4E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00541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8FC826-CEEA-11E9-2614-7C4D68CAF5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DF5198-1FB5-43EC-5DEB-4088DCE044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Collection (Web Scraping)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54F80F-F374-7C37-FCF6-DB4AAE915A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649" y="2468032"/>
            <a:ext cx="8825659" cy="3416300"/>
          </a:xfrm>
        </p:spPr>
        <p:txBody>
          <a:bodyPr/>
          <a:lstStyle/>
          <a:p>
            <a:r>
              <a:rPr lang="en-US" dirty="0"/>
              <a:t>Source: Naukri.com</a:t>
            </a:r>
          </a:p>
          <a:p>
            <a:r>
              <a:rPr lang="en-US" dirty="0"/>
              <a:t>Tools used for Web Scraping: Selenium, BeautifulSoup4</a:t>
            </a:r>
          </a:p>
          <a:p>
            <a:r>
              <a:rPr lang="en-US" dirty="0"/>
              <a:t>Number of pages scraped: 100 pages</a:t>
            </a:r>
          </a:p>
          <a:p>
            <a:r>
              <a:rPr lang="en-US" dirty="0"/>
              <a:t>The dataset contains job-related information such as job title, location, company, reviews, ratings, required skills, and experience levels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B783A5-A288-E63D-1B9A-783F36CE8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30136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9A4C08-7DE4-ED2B-7F1B-D828DF06F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EDA &amp; Visualizations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B9F3523-2D5B-44B3-8084-462D9551363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236856" y="2319792"/>
            <a:ext cx="5746433" cy="4314688"/>
          </a:xfr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BBC899FF-F069-0F53-54AD-04F22F9F54B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5983289" y="2278666"/>
            <a:ext cx="5887026" cy="4355814"/>
          </a:xfr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2F47FAA-7121-FFE1-86A6-7554127373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35668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900D67-E02E-36DF-2203-B55218DB44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Experience level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743BEC8-32C3-EFC3-5714-33F1ACE2D76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56946" y="2150110"/>
            <a:ext cx="5695214" cy="4529110"/>
          </a:xfr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0B0FF62B-8392-B385-2E1A-40C79A3D7FA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339840" y="2150110"/>
            <a:ext cx="5695214" cy="4529110"/>
          </a:xfr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E3E08EA-D252-A581-3C26-07338E609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86626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1067584A-0AB8-F2F1-74FD-D859C701A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973668"/>
            <a:ext cx="11684000" cy="706964"/>
          </a:xfrm>
        </p:spPr>
        <p:txBody>
          <a:bodyPr/>
          <a:lstStyle/>
          <a:p>
            <a:r>
              <a:rPr lang="en-IN" sz="3200" dirty="0"/>
              <a:t>Proportion and Experience level VS Review segment</a:t>
            </a:r>
          </a:p>
        </p:txBody>
      </p:sp>
      <p:pic>
        <p:nvPicPr>
          <p:cNvPr id="21" name="Content Placeholder 20">
            <a:extLst>
              <a:ext uri="{FF2B5EF4-FFF2-40B4-BE49-F238E27FC236}">
                <a16:creationId xmlns:a16="http://schemas.microsoft.com/office/drawing/2014/main" id="{0912C317-75F6-FFA0-A61B-6B8B0850C54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373063" y="2515586"/>
            <a:ext cx="5610225" cy="3760403"/>
          </a:xfrm>
        </p:spPr>
      </p:pic>
      <p:pic>
        <p:nvPicPr>
          <p:cNvPr id="23" name="Content Placeholder 22">
            <a:extLst>
              <a:ext uri="{FF2B5EF4-FFF2-40B4-BE49-F238E27FC236}">
                <a16:creationId xmlns:a16="http://schemas.microsoft.com/office/drawing/2014/main" id="{A1A84108-5499-9D22-C51D-A653E197C1F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208713" y="2323791"/>
            <a:ext cx="5610225" cy="4143994"/>
          </a:xfr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CF8F27C-FD80-1D31-1FD9-9E8FE295D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28662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F82B62A0-8255-31BE-7825-54A7000AF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Company Ratings and job review</a:t>
            </a:r>
          </a:p>
        </p:txBody>
      </p:sp>
      <p:pic>
        <p:nvPicPr>
          <p:cNvPr id="16" name="Content Placeholder 15">
            <a:extLst>
              <a:ext uri="{FF2B5EF4-FFF2-40B4-BE49-F238E27FC236}">
                <a16:creationId xmlns:a16="http://schemas.microsoft.com/office/drawing/2014/main" id="{5AF2FE0B-8A4F-F7E8-46A4-B59E2A951C3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275702" y="2278380"/>
            <a:ext cx="5967520" cy="4305300"/>
          </a:xfrm>
        </p:spPr>
      </p:pic>
      <p:pic>
        <p:nvPicPr>
          <p:cNvPr id="18" name="Content Placeholder 17">
            <a:extLst>
              <a:ext uri="{FF2B5EF4-FFF2-40B4-BE49-F238E27FC236}">
                <a16:creationId xmlns:a16="http://schemas.microsoft.com/office/drawing/2014/main" id="{7859826E-19E0-1733-E301-C1161563BAF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243222" y="2278380"/>
            <a:ext cx="5689064" cy="4305300"/>
          </a:xfr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8B8C70B-9E0D-85ED-FFA9-A9AE13770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04275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343B9809-B65C-0D94-C5CB-8DFF087412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9584166" cy="706964"/>
          </a:xfrm>
        </p:spPr>
        <p:txBody>
          <a:bodyPr/>
          <a:lstStyle/>
          <a:p>
            <a:r>
              <a:rPr lang="en-IN" dirty="0"/>
              <a:t>Top 10 Skills Required and Job Location</a:t>
            </a:r>
          </a:p>
        </p:txBody>
      </p:sp>
      <p:pic>
        <p:nvPicPr>
          <p:cNvPr id="16" name="Content Placeholder 15">
            <a:extLst>
              <a:ext uri="{FF2B5EF4-FFF2-40B4-BE49-F238E27FC236}">
                <a16:creationId xmlns:a16="http://schemas.microsoft.com/office/drawing/2014/main" id="{6ADBDF5A-25A9-A7FE-2C9B-7253C366937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90500" y="2211364"/>
            <a:ext cx="5905500" cy="4494236"/>
          </a:xfrm>
        </p:spPr>
      </p:pic>
      <p:pic>
        <p:nvPicPr>
          <p:cNvPr id="18" name="Content Placeholder 17">
            <a:extLst>
              <a:ext uri="{FF2B5EF4-FFF2-40B4-BE49-F238E27FC236}">
                <a16:creationId xmlns:a16="http://schemas.microsoft.com/office/drawing/2014/main" id="{2945292C-246D-D006-3D39-6FAFA496452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096000" y="2211364"/>
            <a:ext cx="5984240" cy="4494236"/>
          </a:xfr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2B22190-25FE-30FF-7A4F-FE0380F3B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4619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21FADB1E-B238-A16E-9DCB-1D33F1B79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973668"/>
            <a:ext cx="11165840" cy="706964"/>
          </a:xfrm>
        </p:spPr>
        <p:txBody>
          <a:bodyPr/>
          <a:lstStyle/>
          <a:p>
            <a:r>
              <a:rPr lang="en-IN" sz="3200" dirty="0"/>
              <a:t>Company hiring </a:t>
            </a:r>
            <a:r>
              <a:rPr lang="en-IN" sz="3200" dirty="0" err="1"/>
              <a:t>behavior</a:t>
            </a:r>
            <a:r>
              <a:rPr lang="en-IN" sz="3200" dirty="0"/>
              <a:t> and Job posting distribution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C6DB40A-70AB-41CC-59EF-0EEB320272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1332" y="6126723"/>
            <a:ext cx="5414328" cy="706964"/>
          </a:xfrm>
        </p:spPr>
        <p:txBody>
          <a:bodyPr/>
          <a:lstStyle/>
          <a:p>
            <a:r>
              <a:rPr lang="en-US" sz="1100" dirty="0"/>
              <a:t>Most companies, especially Accenture have a higher number of openings for senior-level and mid-level roles compared to Entry-level positions, indicating a stronger demand for experienced professionals in the job market.</a:t>
            </a:r>
            <a:endParaRPr lang="en-IN" sz="1100" dirty="0"/>
          </a:p>
        </p:txBody>
      </p:sp>
      <p:pic>
        <p:nvPicPr>
          <p:cNvPr id="19" name="Content Placeholder 18">
            <a:extLst>
              <a:ext uri="{FF2B5EF4-FFF2-40B4-BE49-F238E27FC236}">
                <a16:creationId xmlns:a16="http://schemas.microsoft.com/office/drawing/2014/main" id="{33ECB47C-5756-FD7C-C3E8-670156B4C09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813247" y="2250314"/>
            <a:ext cx="4462238" cy="3863591"/>
          </a:xfrm>
        </p:spPr>
      </p:pic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8DD8117D-53A8-B2BA-5DE0-82993D83BE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096000" y="6179938"/>
            <a:ext cx="5943600" cy="609600"/>
          </a:xfrm>
        </p:spPr>
        <p:txBody>
          <a:bodyPr/>
          <a:lstStyle/>
          <a:p>
            <a:r>
              <a:rPr lang="en-US" sz="1200" dirty="0"/>
              <a:t>Most job [postings in the dataset are older than 3 weeks, with very few recent listings. this indicates that the data is heavily skewed toward outdated jobs and may not accurately reflect current job market activity.</a:t>
            </a:r>
            <a:endParaRPr lang="en-IN" sz="1200" dirty="0"/>
          </a:p>
        </p:txBody>
      </p:sp>
      <p:pic>
        <p:nvPicPr>
          <p:cNvPr id="21" name="Content Placeholder 20">
            <a:extLst>
              <a:ext uri="{FF2B5EF4-FFF2-40B4-BE49-F238E27FC236}">
                <a16:creationId xmlns:a16="http://schemas.microsoft.com/office/drawing/2014/main" id="{991D5102-52C6-8B4C-55D2-2A20CE9095D0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916516" y="2190973"/>
            <a:ext cx="4289964" cy="3783424"/>
          </a:xfr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6A206B3-5D66-F30B-93C3-85D442BC5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55352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0E05036-2982-4153-1870-B3DB1282AC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6" y="83606"/>
            <a:ext cx="11977744" cy="6829323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49101AE-A4CD-2209-DC06-1E85DBDFF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30023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1E0B67E-CC3C-6B30-B649-739FCE5019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412073" cy="6949440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97AB682-2E6B-0893-0645-4A1BDF049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73486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9699E9C-AEAB-88F0-30EB-2642C7CCF9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EEA1601-C144-2B92-347D-AF959477D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43772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3DED18B-6490-0740-E1AE-E9CA39C97B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5881"/>
            <a:ext cx="12192000" cy="6943739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F4D84C9-023D-77F5-08DC-F0448D26A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40615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A3AC2B9-2DB7-263D-EFFC-534D6414DF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2296C6D-606F-27B8-9E53-64A4525B2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64609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87BB7C-CC0B-10BD-5C6B-F908573D2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Confusion Matrix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ECC5A02-DDB1-8216-03F0-6087E5A04F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46747" b="32183"/>
          <a:stretch>
            <a:fillRect/>
          </a:stretch>
        </p:blipFill>
        <p:spPr>
          <a:xfrm>
            <a:off x="3589189" y="1720850"/>
            <a:ext cx="4367695" cy="3416300"/>
          </a:xfrm>
        </p:spPr>
      </p:pic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E0AD6678-E78F-6572-BED1-AD22A5777FA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4791"/>
          <a:stretch>
            <a:fillRect/>
          </a:stretch>
        </p:blipFill>
        <p:spPr>
          <a:xfrm>
            <a:off x="1714608" y="5084338"/>
            <a:ext cx="8201759" cy="1773662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B50AB9C-8077-8A83-0959-C8CB72385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61994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E7F8D8-2364-5967-6FD1-2351A8508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3B8DBC-E3D8-182B-41E8-6253F3A253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Skill Demand</a:t>
            </a:r>
            <a:r>
              <a:rPr lang="en-US" dirty="0"/>
              <a:t>:  Data Science, Python, and Machine Learning are the most in-demand skills.</a:t>
            </a:r>
          </a:p>
          <a:p>
            <a:r>
              <a:rPr lang="en-US" b="1" dirty="0"/>
              <a:t>Experience Distribution: </a:t>
            </a:r>
            <a:r>
              <a:rPr lang="en-US" dirty="0"/>
              <a:t>Most job opportunities are concentrated in mid and senior-level roles, with fewer entry-level openings.</a:t>
            </a:r>
          </a:p>
          <a:p>
            <a:r>
              <a:rPr lang="en-US" b="1" dirty="0"/>
              <a:t>Location Trend: </a:t>
            </a:r>
            <a:r>
              <a:rPr lang="en-US" dirty="0"/>
              <a:t>Job demand is highly concentrated in cities like Bengaluru, Hyderabad, and Gurugram.</a:t>
            </a:r>
          </a:p>
          <a:p>
            <a:r>
              <a:rPr lang="en-US" b="1" dirty="0"/>
              <a:t>Company Ratings: </a:t>
            </a:r>
            <a:r>
              <a:rPr lang="en-US" dirty="0"/>
              <a:t>Most companies fall within medium to high rating segments, indicating generally positive employer feedback.</a:t>
            </a:r>
          </a:p>
          <a:p>
            <a:r>
              <a:rPr lang="en-US" b="1" dirty="0"/>
              <a:t>Model Performance: </a:t>
            </a:r>
            <a:r>
              <a:rPr lang="en-US" dirty="0"/>
              <a:t>The classification model achieved around 65% accuracy, with better performance for senior-level roles.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0CE690-F991-8942-896F-1185D514F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84233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9E5890-44C8-EE97-B299-CEAFCE68A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C94F0-A36D-2622-69CA-9638877C95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5BCC55-07C3-CB14-55CD-6A740F67B6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The </a:t>
            </a:r>
            <a:r>
              <a:rPr lang="en-IN" b="1" dirty="0"/>
              <a:t>Dominance </a:t>
            </a:r>
            <a:r>
              <a:rPr lang="en-US" b="1" dirty="0"/>
              <a:t>of Python and Data Science skills </a:t>
            </a:r>
            <a:r>
              <a:rPr lang="en-US" dirty="0"/>
              <a:t>highlights their importance as core requirements in the current job market.</a:t>
            </a:r>
          </a:p>
          <a:p>
            <a:r>
              <a:rPr lang="en-US" dirty="0"/>
              <a:t>The </a:t>
            </a:r>
            <a:r>
              <a:rPr lang="en-US" b="1" dirty="0"/>
              <a:t>lower number of entry-level roles </a:t>
            </a:r>
            <a:r>
              <a:rPr lang="en-US" dirty="0"/>
              <a:t>suggests higher competition for freshers and a preference for experienced candidates.</a:t>
            </a:r>
          </a:p>
          <a:p>
            <a:r>
              <a:rPr lang="en-US" dirty="0"/>
              <a:t>The concentration </a:t>
            </a:r>
            <a:r>
              <a:rPr lang="en-US" b="1" dirty="0"/>
              <a:t>of jobs in metro cities </a:t>
            </a:r>
            <a:r>
              <a:rPr lang="en-US" dirty="0"/>
              <a:t>reflects the presence of tech hubs and industry demand.</a:t>
            </a:r>
          </a:p>
          <a:p>
            <a:r>
              <a:rPr lang="en-US" dirty="0"/>
              <a:t>The </a:t>
            </a:r>
            <a:r>
              <a:rPr lang="en-US" b="1" dirty="0"/>
              <a:t>model’s higher performance for senior roles </a:t>
            </a:r>
            <a:r>
              <a:rPr lang="en-US" dirty="0"/>
              <a:t>indicates clearer patterns in experienced job requirements, while entry-level roles show overlap.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B48D78-AAF9-1869-715B-4EA6AA3CB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18129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C98ED-7443-B3CC-6A10-A9239D059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31013-91D7-5438-AD61-103CFF82C2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For Job Seekers: </a:t>
            </a:r>
            <a:r>
              <a:rPr lang="en-US" dirty="0"/>
              <a:t>Focus on building strong skills in Python, data analysis, and machine learning to increase employability.</a:t>
            </a:r>
          </a:p>
          <a:p>
            <a:r>
              <a:rPr lang="en-US" b="1" dirty="0"/>
              <a:t>For Freshers: </a:t>
            </a:r>
            <a:r>
              <a:rPr lang="en-US" dirty="0"/>
              <a:t>Since entry-level roles are limited, candidates should focus on internships, projects, and certifications to stand out.</a:t>
            </a:r>
          </a:p>
          <a:p>
            <a:r>
              <a:rPr lang="en-US" b="1" dirty="0"/>
              <a:t>For Companies: </a:t>
            </a:r>
            <a:r>
              <a:rPr lang="en-US" dirty="0"/>
              <a:t>Organizations can improve hiring efficiency by clearly defining skill requirements for entry-level roles to reduce ambiguity.</a:t>
            </a:r>
          </a:p>
          <a:p>
            <a:r>
              <a:rPr lang="en-US" b="1" dirty="0"/>
              <a:t>For Decision-Making: </a:t>
            </a:r>
            <a:r>
              <a:rPr lang="en-US" dirty="0"/>
              <a:t>The predictive model can be used to classify job roles and assist in workforce planning and talent analysis.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70CF2A-16E9-C1F2-0B2E-19BC25C1C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1527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AE60A-68E3-419E-06B4-7524C45C6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070BB5-3F7B-D7AC-5016-B627755B21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analysis reveals that the job market is highly concentrated in specific locations and skill sets.</a:t>
            </a:r>
          </a:p>
          <a:p>
            <a:r>
              <a:rPr lang="en-US"/>
              <a:t>The </a:t>
            </a:r>
            <a:r>
              <a:rPr lang="en-US" dirty="0"/>
              <a:t>predictive model demonstrates strong performance and can assist in understanding hiring </a:t>
            </a:r>
            <a:r>
              <a:rPr lang="en-US"/>
              <a:t>patterns.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0820C7-6AD7-D90D-4BC0-035162034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51064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0E78C07-A890-79F9-3531-399019401D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5222" y="0"/>
            <a:ext cx="11293642" cy="6857999"/>
          </a:xfr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5C9FFE3-16C5-A40F-C89C-9AF9E4FFDD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209642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{C0FBA33A-8D87-4F10-8793-62895B7A6678}TF229edf6a-8a49-49ee-a0a6-5037052947485fb3ca0c-bc27bf41d645</Template>
  <TotalTime>1050</TotalTime>
  <Words>583</Words>
  <Application>Microsoft Office PowerPoint</Application>
  <PresentationFormat>Widescreen</PresentationFormat>
  <Paragraphs>65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Century Gothic</vt:lpstr>
      <vt:lpstr>Wingdings 3</vt:lpstr>
      <vt:lpstr>Ion Boardroom</vt:lpstr>
      <vt:lpstr>Job Market Analysis &amp; Experience Prediction using Naukri Data</vt:lpstr>
      <vt:lpstr>Problem Statement</vt:lpstr>
      <vt:lpstr>Project Overview &amp; Objective </vt:lpstr>
      <vt:lpstr>Data Collection (Web Scraping)</vt:lpstr>
      <vt:lpstr>EDA &amp; Visualizations</vt:lpstr>
      <vt:lpstr>Experience level</vt:lpstr>
      <vt:lpstr>Proportion and Experience level VS Review segment</vt:lpstr>
      <vt:lpstr>Company Ratings and job review</vt:lpstr>
      <vt:lpstr>Top 10 Skills Required and Job Location</vt:lpstr>
      <vt:lpstr>Company hiring behavior and Job posting distribution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Confusion Matrix</vt:lpstr>
      <vt:lpstr>Key Findings</vt:lpstr>
      <vt:lpstr>Key Insights</vt:lpstr>
      <vt:lpstr>Recommendations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Alpana Prajapati</dc:creator>
  <cp:lastModifiedBy>Alpana Prajapati</cp:lastModifiedBy>
  <cp:revision>8</cp:revision>
  <dcterms:created xsi:type="dcterms:W3CDTF">2026-04-22T05:38:56Z</dcterms:created>
  <dcterms:modified xsi:type="dcterms:W3CDTF">2026-04-24T11:03:10Z</dcterms:modified>
</cp:coreProperties>
</file>